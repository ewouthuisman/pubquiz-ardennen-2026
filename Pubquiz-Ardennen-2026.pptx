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</p:sldIdLst>
  <p:notesMasterIdLst>
    <p:notesMasterId r:id="rId8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notesMaster" Target="notesMasters/notesMaster1.xml"/><Relationship Id="rId87" Type="http://schemas.openxmlformats.org/officeDocument/2006/relationships/presProps" Target="presProps.xml"/><Relationship Id="rId88" Type="http://schemas.openxmlformats.org/officeDocument/2006/relationships/viewProps" Target="viewProps.xml"/><Relationship Id="rId89" Type="http://schemas.openxmlformats.org/officeDocument/2006/relationships/theme" Target="theme/theme1.xml"/><Relationship Id="rId9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Welkom. Teams laten kiezen, naam op het antwoordblad, telefoons in het midden.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beginnen zachtjes. Aardrijkskunde van de route die we net gereden hebben, en van het lapje België waar we nu zitten.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± 285 km
Alles tussen 260 en 310 km is goed. Dichtstbij wint bij gelijkspel.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9 gemeenten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Nederlands, Frans en Duits
Half punt per taal is toegestaan als je krap bij kas zit.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Signal de Botrange — 694 meter
1 punt voor de naam, 1 bonuspunt voor de hoogte (± 5 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De Baraque Michel (674 m)
België kreeg de Oostkantons pas na de Eerste Wereldoorlog.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Luik (Liège)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De Hoge Venen / Hautes Fagnes / Hohes Venn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Gelderland
Bij Zelhem, gemeente Bronckhorst.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Acht fragmenten. Artiest én titel. Geen video te zien — alleen geluid. Wie meezingt verdient geen punt maar wel respect.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Nirvana — Smells Like Teen Spirit (1991)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Normaal — Oerend Hard (1977)
Achterhoek, maar dichtbij genoeg.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Dr. Dre feat. Snoop Dogg — Still D.R.E. (1999)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André Hazes — Zij Gelooft In Mij (1981)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Toto — Africa (1982)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Daft Punk — One More Time (2000)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Frans Bauer — Heb Je Even Voor Mij (1996)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Snollebollekes — Links Rechts (2017)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5 minuten pauze. Daarna de antwoorden.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Vier fragmenten en vier vragen zonder beeld. Bij de fragmenten is de titelbalk afgeplakt, dus niet gokken op de bovenkant van het scherm.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Gladiator (2000)
Suggestie: de arena-scène. Vervang gerust door je eigen favoriet.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The Dark Knight (2008) — Harvey Dent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Pulp Fiction (1994)
Suggestie: de dansscène of de Royale-with-cheese-dialoog.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Band of Brothers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New Kids Turbo (2010)
Suggestie: de trailer. Maaskantje, Brabant — maar Twente lacht 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11
Evenaart Ben-Hur en The Return of the 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The Lord of the Rings: The Fellowship of the Ring (2001)
Suggestie: Moria of de Balrog-scène.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Tom Hanks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mag rondkijken en rondlopen met de muis, maar niet uitzoomen naar de kaart. Noem de plaats. Bij twijfel: schrijf je beste gok op, halve punten bestaan hier.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Hengelo (Overijssel) — de Markt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Büllingen — dorpskern
Wij slapen hier. Geen punt als je dit mist.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Signal de Botrange, Hoge Venen (694 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Bastogne — Place McAuliffe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Drielandenpunt, Vaals (Vaalserberg)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Dinant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La Roche-en-Ardenne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Vianden — Luxemburg
1 punt voor het land, 2 punten voor de plaatsnaam.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5 minuten pauze. Daarna de antwoorden.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Thuisronde. Als je hier onder de vijf blijft, mag je niet terug over de grens.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2010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Steve McClaren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Fanny Blankers-Koen (het FBK Stadion)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C.T. Stork (Charles Theodorus Stork)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Het Hazemeyer-complex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Oldenzaal
Boeskool = witte kool.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Groenlo (‘Grol’)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De Intercity Berlijn (Amsterdam – Berlijn)
Daarna Bad Bentheim.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zitten in het beste bierland ter wereld. Bewijs dat je dat verdient.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5
Chimay, Orval, Rochefort, Westmalle, Westvleteren.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Achel
Laatste monnik weg, abdij verkocht — sindsdien ‘abdijbier’.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Orval
Gravin Mathilde verloor haar ring in een bron; een forel bracht hem terug.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Kwak (Pauwel Kwak)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10,2 %
Marge van 0,5 % toegestaan.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Lambiek (en daaruit geuze)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Duivel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De Belgische biercultuur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5 minuten pauze. Daarna de antwoorden.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Elk antwoord in deze ronde heeft te maken met de grond waarop dit huis staat. Dat maakt het niet makkelijker. Verwacht drie punten en wees blij met twee.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Het tweede hoogste punt van België — 692 meter
Slechts 2 meter lager dan Botrange.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Herman Baltia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Joachim (Jochen) Peiper — Kampfgruppe Peiper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Krinkelt en Rocherath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27
Marge van 3 toegestaan als je genadig bent.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Sifan Hassan (29:06.82), verbroken door Letesenbet Gidey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Het Verdrag van Versailles (1919)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Kamp Elsenborn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Laatste ronde, en nu met inzet. Per vraag zet je vooraf 1, 2 of 3 punten in. Goed = erbij. Fout = eraf. Ja, je kunt hierdoor negatief eindigen.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5.544
Dichtstbij wint. Marge 300.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46,5 %
Marge 5 %.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30.688 km²
Marge 1.500.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41 dagen
Marge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1965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± 81.000
Marge 5.000.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± 570 km
Dichtstbij pakt de bonus. Bij exact goed: 5 punten.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5 minuten pauze. Daarna de antwoorden.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results?search_query=Nirvana%20%E2%80%94%20Smells%20Like%20Teen%20Spirit%2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results?search_query=Normaal%20%E2%80%94%20Oerend%20Hard%2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results?search_query=Dr.%20Dre%20feat.%20Snoop%20Dogg%20%E2%80%94%20Still%20D.R.E.%2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results?search_query=Andr%C3%A9%20Hazes%20%E2%80%94%20Zij%20Gelooft%20In%20Mij%2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results?search_query=Toto%20%E2%80%94%20Africa%2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results?search_query=Daft%20Punk%20%E2%80%94%20One%20More%20Time%2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results?search_query=Frans%20Bauer%20%E2%80%94%20Heb%20Je%20Even%20Voor%20Mij%2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results?search_query=Snollebollekes%20%E2%80%94%20Links%20Rechts%2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results?search_query=Gladiator%2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results?search_query=Pulp%20Fiction%2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results?search_query=New%20Kids%20Turbo%2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results?search_query=The%20Lord%20of%20the%20Rings%3A%20The%20Fellowship%20of%20the%20Ring%2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oogle.com/maps/@?api=1&amp;map_action=pano&amp;viewpoint=52.2661,6.7931&amp;heading=18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oogle.com/maps/@?api=1&amp;map_action=pano&amp;viewpoint=50.3969,6.2647&amp;heading=9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oogle.com/maps/@?api=1&amp;map_action=pano&amp;viewpoint=50.5017,6.0947&amp;heading=20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oogle.com/maps/@?api=1&amp;map_action=pano&amp;viewpoint=50.0004,5.716&amp;heading=12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oogle.com/maps/@?api=1&amp;map_action=pano&amp;viewpoint=50.7543,6.0209&amp;heading=25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oogle.com/maps/@?api=1&amp;map_action=pano&amp;viewpoint=50.26,4.913&amp;heading=2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oogle.com/maps/@?api=1&amp;map_action=pano&amp;viewpoint=50.1817,5.5758&amp;heading=30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oogle.com/maps/@?api=1&amp;map_action=pano&amp;viewpoint=49.9347,6.2069&amp;heading=40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D9A441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D9A441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894680" y="960120"/>
            <a:ext cx="402336" cy="402336"/>
          </a:xfrm>
          <a:prstGeom prst="diamond">
            <a:avLst/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6002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– 13 SEPTEMBER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Grote Freymannshof Pubquiz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0" y="379476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 rondes, één winnaar, veel bier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92328" y="4572000"/>
            <a:ext cx="3383280" cy="566928"/>
          </a:xfrm>
          <a:prstGeom prst="roundRect">
            <a:avLst>
              <a:gd name="adj" fmla="val 48387"/>
            </a:avLst>
          </a:prstGeom>
          <a:solidFill>
            <a:srgbClr val="D9A441">
              <a:alpha val="12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2328" y="457200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Freymannshof · Büllingen · Ostbelgien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04208" y="4572000"/>
            <a:ext cx="3383280" cy="566928"/>
          </a:xfrm>
          <a:prstGeom prst="roundRect">
            <a:avLst>
              <a:gd name="adj" fmla="val 48387"/>
            </a:avLst>
          </a:prstGeom>
          <a:solidFill>
            <a:srgbClr val="D9A441">
              <a:alpha val="12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4208" y="457200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Vertrokken uit Hengelo (OV)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16088" y="4572000"/>
            <a:ext cx="3383280" cy="566928"/>
          </a:xfrm>
          <a:prstGeom prst="roundRect">
            <a:avLst>
              <a:gd name="adj" fmla="val 48387"/>
            </a:avLst>
          </a:prstGeom>
          <a:solidFill>
            <a:srgbClr val="D9A441">
              <a:alpha val="12000"/>
            </a:srgbClr>
          </a:solidFill>
          <a:ln w="9525">
            <a:solidFill>
              <a:srgbClr val="D9A4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16088" y="457200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rondes · 64 vragen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D9A441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D9A44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VOORDAT WE BEGINNEN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Spelregels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80744" y="1920240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van 2 of 3. Kies een naam. Slechte namen kosten punten.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77240" y="2679192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80744" y="2633472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rondes van 8 vragen. Eén punt per goed antwoord, tenzij anders vermeld.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77240" y="3392424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924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80744" y="3346704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elke 2 rondes wisselen we de antwoordbladen en kijken we elkaars werk na.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77240" y="4105656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056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80744" y="4059936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Telefoons op de stapel in het midden. Wie 'even naar de wc' moet mét telefoon, betaalt een rondje.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77240" y="4818888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8188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80744" y="4773168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quizmaster heeft altijd gelijk. Ook als hij ongelijk heeft.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77240" y="5532120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5321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80744" y="5486400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7 is er niet om te winnen. Die is er om te lijden.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5FA87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5FA87C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457200"/>
            <a:ext cx="1219169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5FA87C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0" y="27889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5F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1 — DE REISRONDE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 Hengelo naar het Hoge Venen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2194560" y="4206240"/>
            <a:ext cx="78025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beginnen zachtjes. Aardrijkskunde van de route die we net gereden hebben, en van het lapje België waar we nu zitten.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90008" y="553212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5FA87C">
              <a:alpha val="15000"/>
            </a:srgbClr>
          </a:solidFill>
          <a:ln w="9525">
            <a:solidFill>
              <a:srgbClr val="5FA8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90008" y="5532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vragen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5FA87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5FA87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5FA87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1 · VAN HENGELO NAAR HET HOGE VENEN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5FA87C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Hoeveel kilometer is het ongeveer van Hengelo naar Büllingen, over de weg?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77111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tussen 260 en 310 km is goed. Dichtstbij wint bij gelijkspel.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± 285 km  —  Alles tussen 260 en 310 km is goed. Dichtstbij wint bij gelijkspel.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5FA87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5FA87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5FA87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1 · VAN HENGELO NAAR HET HOGE VENEN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5FA87C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Büllingen ligt in de Duitstalige Gemeenschap van België. Uit hoeveel gemeenten bestaat die?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9 gemeenten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5FA87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5FA87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5FA87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1 · VAN HENGELO NAAR HET HOGE VENEN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5FA87C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België heeft drie officiële landstalen. Noem ze alle drie.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77111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punt per taal is toegestaan als je krap bij kas zit.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Nederlands, Frans en Duits  —  Half punt per taal is toegestaan als je krap bij kas zit.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5FA87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5FA87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5FA87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1 · VAN HENGELO NAAR HET HOGE VENEN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5FA87C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is het hoogste punt van België, en hoe hoog is het?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77111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punt voor de naam, 1 bonuspunt voor de hoogte (± 5 m).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Signal de Botrange — 694 meter  —  1 punt voor de naam, 1 bonuspunt voor de hoogte (± 5 m).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5FA87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5FA87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5FA87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1 · VAN HENGELO NAAR HET HOGE VENEN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5FA87C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was vóór 1919 het hoogste punt van België?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77111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België kreeg de Oostkantons pas na de Eerste Wereldoorlog.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De Baraque Michel (674 m)  —  België kreeg de Oostkantons pas na de Eerste Wereldoorlog.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5FA87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5FA87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5FA87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1 · VAN HENGELO NAAR HET HOGE VENEN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5FA87C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welke Belgische provincie ligt Büllingen?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Luik (Liège)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5FA87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5FA87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5FA87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1 · VAN HENGELO NAAR HET HOGE VENEN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5FA87C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 heet het grote hoogveengebied direct naast Büllingen? (Nederlands, Frans of Duits mag)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De Hoge Venen / Hautes Fagnes / Hohes Venn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5FA87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5FA87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5FA87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1 · VAN HENGELO NAAR HET HOGE VENEN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5FA87C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bestaat nóg een Hengelo in Nederland. In welke provincie ligt dat?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77111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Zelhem, gemeente Bronckhorst.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Gelderland  —  Bij Zelhem, gemeente Bronckhorst.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96A8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96A8B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457200"/>
            <a:ext cx="1219169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C96A8B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0" y="27889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C96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2 — MUZIEKRONDE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Naald in de Groef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2194560" y="4206240"/>
            <a:ext cx="78025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 fragmenten. Artiest én titel. Geen video te zien — alleen geluid. Wie meezingt verdient geen punt maar wel respect.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90008" y="553212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C96A8B">
              <a:alpha val="15000"/>
            </a:srgbClr>
          </a:solidFill>
          <a:ln w="9525">
            <a:solidFill>
              <a:srgbClr val="C96A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90008" y="5532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vragen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96A8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96A8B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C96A8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2 · NAALD IN DE GROEF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372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 1 — artiest én titel?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10637215" cy="2148840"/>
          </a:xfrm>
          <a:prstGeom prst="roundRect">
            <a:avLst>
              <a:gd name="adj" fmla="val 5106"/>
            </a:avLst>
          </a:prstGeom>
          <a:solidFill>
            <a:srgbClr val="111A16"/>
          </a:solidFill>
          <a:ln w="12700">
            <a:solidFill>
              <a:srgbClr val="C96A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6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MUZIEKFRAGMENT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3000" y="3584448"/>
            <a:ext cx="237744" cy="274320"/>
          </a:xfrm>
          <a:prstGeom prst="triangle">
            <a:avLst/>
          </a:prstGeom>
          <a:solidFill>
            <a:srgbClr val="F2C568"/>
          </a:solidFill>
          <a:ln/>
        </p:spPr>
      </p:sp>
      <p:sp>
        <p:nvSpPr>
          <p:cNvPr id="11" name="Text 9"/>
          <p:cNvSpPr/>
          <p:nvPr/>
        </p:nvSpPr>
        <p:spPr>
          <a:xfrm>
            <a:off x="1490472" y="3474720"/>
            <a:ext cx="9539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F2C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Zoek fragment op YouTube  (20 s)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 geen link ingevuld — vul “url” in de config van het HTML-deck, of speel het van je telefoon.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48056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op: kijk niet mee naar het YouTube-tabblad, daar staat de titel.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Nirvana — Smells Like Teen Spirit (1991)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96A8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96A8B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C96A8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2 · NAALD IN DE GROEF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372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 2 — artiest én titel?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10637215" cy="2148840"/>
          </a:xfrm>
          <a:prstGeom prst="roundRect">
            <a:avLst>
              <a:gd name="adj" fmla="val 5106"/>
            </a:avLst>
          </a:prstGeom>
          <a:solidFill>
            <a:srgbClr val="111A16"/>
          </a:solidFill>
          <a:ln w="12700">
            <a:solidFill>
              <a:srgbClr val="C96A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6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MUZIEKFRAGMENT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3000" y="3584448"/>
            <a:ext cx="237744" cy="274320"/>
          </a:xfrm>
          <a:prstGeom prst="triangle">
            <a:avLst/>
          </a:prstGeom>
          <a:solidFill>
            <a:srgbClr val="F2C568"/>
          </a:solidFill>
          <a:ln/>
        </p:spPr>
      </p:sp>
      <p:sp>
        <p:nvSpPr>
          <p:cNvPr id="11" name="Text 9"/>
          <p:cNvSpPr/>
          <p:nvPr/>
        </p:nvSpPr>
        <p:spPr>
          <a:xfrm>
            <a:off x="1490472" y="3474720"/>
            <a:ext cx="9539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F2C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Zoek fragment op YouTube  (20 s)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 geen link ingevuld — vul “url” in de config van het HTML-deck, of speel het van je telefoon.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48056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op: kijk niet mee naar het YouTube-tabblad, daar staat de titel.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Normaal — Oerend Hard (1977)  —  Achterhoek, maar dichtbij genoeg.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96A8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96A8B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C96A8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2 · NAALD IN DE GROEF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372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 3 — artiest én titel?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10637215" cy="2148840"/>
          </a:xfrm>
          <a:prstGeom prst="roundRect">
            <a:avLst>
              <a:gd name="adj" fmla="val 5106"/>
            </a:avLst>
          </a:prstGeom>
          <a:solidFill>
            <a:srgbClr val="111A16"/>
          </a:solidFill>
          <a:ln w="12700">
            <a:solidFill>
              <a:srgbClr val="C96A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6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MUZIEKFRAGMENT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3000" y="3584448"/>
            <a:ext cx="237744" cy="274320"/>
          </a:xfrm>
          <a:prstGeom prst="triangle">
            <a:avLst/>
          </a:prstGeom>
          <a:solidFill>
            <a:srgbClr val="F2C568"/>
          </a:solidFill>
          <a:ln/>
        </p:spPr>
      </p:sp>
      <p:sp>
        <p:nvSpPr>
          <p:cNvPr id="11" name="Text 9"/>
          <p:cNvSpPr/>
          <p:nvPr/>
        </p:nvSpPr>
        <p:spPr>
          <a:xfrm>
            <a:off x="1490472" y="3474720"/>
            <a:ext cx="9539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F2C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Zoek fragment op YouTube  (20 s)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 geen link ingevuld — vul “url” in de config van het HTML-deck, of speel het van je telefoon.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48056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op: kijk niet mee naar het YouTube-tabblad, daar staat de titel.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Dr. Dre feat. Snoop Dogg — Still D.R.E. (1999)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96A8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96A8B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C96A8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2 · NAALD IN DE GROEF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372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 4 — artiest én titel?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10637215" cy="2148840"/>
          </a:xfrm>
          <a:prstGeom prst="roundRect">
            <a:avLst>
              <a:gd name="adj" fmla="val 5106"/>
            </a:avLst>
          </a:prstGeom>
          <a:solidFill>
            <a:srgbClr val="111A16"/>
          </a:solidFill>
          <a:ln w="12700">
            <a:solidFill>
              <a:srgbClr val="C96A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6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MUZIEKFRAGMENT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3000" y="3584448"/>
            <a:ext cx="237744" cy="274320"/>
          </a:xfrm>
          <a:prstGeom prst="triangle">
            <a:avLst/>
          </a:prstGeom>
          <a:solidFill>
            <a:srgbClr val="F2C568"/>
          </a:solidFill>
          <a:ln/>
        </p:spPr>
      </p:sp>
      <p:sp>
        <p:nvSpPr>
          <p:cNvPr id="11" name="Text 9"/>
          <p:cNvSpPr/>
          <p:nvPr/>
        </p:nvSpPr>
        <p:spPr>
          <a:xfrm>
            <a:off x="1490472" y="3474720"/>
            <a:ext cx="9539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F2C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Zoek fragment op YouTube  (20 s)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 geen link ingevuld — vul “url” in de config van het HTML-deck, of speel het van je telefoon.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48056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op: kijk niet mee naar het YouTube-tabblad, daar staat de titel.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André Hazes — Zij Gelooft In Mij (1981)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96A8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96A8B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C96A8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2 · NAALD IN DE GROEF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372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 5 — artiest én titel?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10637215" cy="2148840"/>
          </a:xfrm>
          <a:prstGeom prst="roundRect">
            <a:avLst>
              <a:gd name="adj" fmla="val 5106"/>
            </a:avLst>
          </a:prstGeom>
          <a:solidFill>
            <a:srgbClr val="111A16"/>
          </a:solidFill>
          <a:ln w="12700">
            <a:solidFill>
              <a:srgbClr val="C96A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6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MUZIEKFRAGMENT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3000" y="3584448"/>
            <a:ext cx="237744" cy="274320"/>
          </a:xfrm>
          <a:prstGeom prst="triangle">
            <a:avLst/>
          </a:prstGeom>
          <a:solidFill>
            <a:srgbClr val="F2C568"/>
          </a:solidFill>
          <a:ln/>
        </p:spPr>
      </p:sp>
      <p:sp>
        <p:nvSpPr>
          <p:cNvPr id="11" name="Text 9"/>
          <p:cNvSpPr/>
          <p:nvPr/>
        </p:nvSpPr>
        <p:spPr>
          <a:xfrm>
            <a:off x="1490472" y="3474720"/>
            <a:ext cx="9539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F2C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Zoek fragment op YouTube  (20 s)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 geen link ingevuld — vul “url” in de config van het HTML-deck, of speel het van je telefoon.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48056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op: kijk niet mee naar het YouTube-tabblad, daar staat de titel.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Toto — Africa (1982)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96A8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96A8B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C96A8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2 · NAALD IN DE GROEF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372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 6 — artiest én titel?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10637215" cy="2148840"/>
          </a:xfrm>
          <a:prstGeom prst="roundRect">
            <a:avLst>
              <a:gd name="adj" fmla="val 5106"/>
            </a:avLst>
          </a:prstGeom>
          <a:solidFill>
            <a:srgbClr val="111A16"/>
          </a:solidFill>
          <a:ln w="12700">
            <a:solidFill>
              <a:srgbClr val="C96A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6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MUZIEKFRAGMENT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3000" y="3584448"/>
            <a:ext cx="237744" cy="274320"/>
          </a:xfrm>
          <a:prstGeom prst="triangle">
            <a:avLst/>
          </a:prstGeom>
          <a:solidFill>
            <a:srgbClr val="F2C568"/>
          </a:solidFill>
          <a:ln/>
        </p:spPr>
      </p:sp>
      <p:sp>
        <p:nvSpPr>
          <p:cNvPr id="11" name="Text 9"/>
          <p:cNvSpPr/>
          <p:nvPr/>
        </p:nvSpPr>
        <p:spPr>
          <a:xfrm>
            <a:off x="1490472" y="3474720"/>
            <a:ext cx="9539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F2C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Zoek fragment op YouTube  (20 s)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 geen link ingevuld — vul “url” in de config van het HTML-deck, of speel het van je telefoon.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48056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op: kijk niet mee naar het YouTube-tabblad, daar staat de titel.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Daft Punk — One More Time (2000)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96A8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96A8B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C96A8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2 · NAALD IN DE GROEF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372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 7 — artiest én titel?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10637215" cy="2148840"/>
          </a:xfrm>
          <a:prstGeom prst="roundRect">
            <a:avLst>
              <a:gd name="adj" fmla="val 5106"/>
            </a:avLst>
          </a:prstGeom>
          <a:solidFill>
            <a:srgbClr val="111A16"/>
          </a:solidFill>
          <a:ln w="12700">
            <a:solidFill>
              <a:srgbClr val="C96A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6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MUZIEKFRAGMENT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3000" y="3584448"/>
            <a:ext cx="237744" cy="274320"/>
          </a:xfrm>
          <a:prstGeom prst="triangle">
            <a:avLst/>
          </a:prstGeom>
          <a:solidFill>
            <a:srgbClr val="F2C568"/>
          </a:solidFill>
          <a:ln/>
        </p:spPr>
      </p:sp>
      <p:sp>
        <p:nvSpPr>
          <p:cNvPr id="11" name="Text 9"/>
          <p:cNvSpPr/>
          <p:nvPr/>
        </p:nvSpPr>
        <p:spPr>
          <a:xfrm>
            <a:off x="1490472" y="3474720"/>
            <a:ext cx="9539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F2C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Zoek fragment op YouTube  (20 s)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 geen link ingevuld — vul “url” in de config van het HTML-deck, of speel het van je telefoon.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48056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op: kijk niet mee naar het YouTube-tabblad, daar staat de titel.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Frans Bauer — Heb Je Even Voor Mij (1996)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96A8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96A8B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C96A8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2 · NAALD IN DE GROEF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372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 8 — artiest én titel?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10637215" cy="2148840"/>
          </a:xfrm>
          <a:prstGeom prst="roundRect">
            <a:avLst>
              <a:gd name="adj" fmla="val 5106"/>
            </a:avLst>
          </a:prstGeom>
          <a:solidFill>
            <a:srgbClr val="111A16"/>
          </a:solidFill>
          <a:ln w="12700">
            <a:solidFill>
              <a:srgbClr val="C96A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6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MUZIEKFRAGMENT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3000" y="3584448"/>
            <a:ext cx="237744" cy="274320"/>
          </a:xfrm>
          <a:prstGeom prst="triangle">
            <a:avLst/>
          </a:prstGeom>
          <a:solidFill>
            <a:srgbClr val="F2C568"/>
          </a:solidFill>
          <a:ln/>
        </p:spPr>
      </p:sp>
      <p:sp>
        <p:nvSpPr>
          <p:cNvPr id="11" name="Text 9"/>
          <p:cNvSpPr/>
          <p:nvPr/>
        </p:nvSpPr>
        <p:spPr>
          <a:xfrm>
            <a:off x="1490472" y="3474720"/>
            <a:ext cx="9539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F2C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Zoek fragment op YouTube  (20 s)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 geen link ingevuld — vul “url” in de config van het HTML-deck, of speel het van je telefoon.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48056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op: kijk niet mee naar het YouTube-tabblad, daar staat de titel.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Snollebollekes — Links Rechts (2017)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D9A441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D9A44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920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PAUZE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228600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Bladen wisselen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2377440" y="3657600"/>
            <a:ext cx="74368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Geef je antwoordblad van ronde 1 en 2 door aan de tafel links van je.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op tafel. Bier bijvullen.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D9A441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D9A44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NAKIJKSHEET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74980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Ronde 1 &amp; 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518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Ronde 1 — Van Hengelo naar het Hoge Venen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1938528"/>
            <a:ext cx="5181448" cy="0"/>
          </a:xfrm>
          <a:prstGeom prst="line">
            <a:avLst/>
          </a:prstGeom>
          <a:noFill/>
          <a:ln w="9525">
            <a:solidFill>
              <a:srgbClr val="D9A441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4825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F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9848" y="2029968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285 km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tussen 260 en 310 km is goed. Dichtstbij wint bij gelijkspel.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54660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F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" y="2528316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gemeenten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0449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F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" y="3026664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Nederlands, Frans en Duits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punt per taal is toegestaan als je krap bij kas zit.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5433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F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9848" y="3525012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 Botrange — 694 meter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punt voor de naam, 1 bonuspunt voor de hoogte (± 5 m).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04164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F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69848" y="4023360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Baraque Michel (674 m)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België kreeg de Oostkantons pas na de Eerste Wereldoorlog.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53999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F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9848" y="4521708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Luik (Liège)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503834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F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9848" y="5020056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Hoge Venen / Hautes Fagnes / Hohes Venn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55366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F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69848" y="5518404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Gelderland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Zelhem, gemeente Bronckhorst.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33008" y="1554480"/>
            <a:ext cx="518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Ronde 2 — Naald in de Groef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33008" y="1938528"/>
            <a:ext cx="5181448" cy="0"/>
          </a:xfrm>
          <a:prstGeom prst="line">
            <a:avLst/>
          </a:prstGeom>
          <a:noFill/>
          <a:ln w="9525">
            <a:solidFill>
              <a:srgbClr val="D9A441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3008" y="204825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6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25616" y="2029968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Nirvana — Smells Like Teen Spirit (1991)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3008" y="254660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6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25616" y="2528316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Normaal — Oerend Hard (1977)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Achterhoek, maar dichtbij genoeg.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33008" y="30449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6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25616" y="3026664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Dre feat. Snoop Dogg — Still D.R.E. (1999)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33008" y="35433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6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25616" y="3525012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 Hazes — Zij Gelooft In Mij (1981)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33008" y="404164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6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25616" y="4023360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Toto — Africa (1982)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33008" y="453999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6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25616" y="4521708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 Punk — One More Time (2000)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33008" y="503834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6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25616" y="5020056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Frans Bauer — Heb Je Even Voor Mij (1996)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33008" y="55366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6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25616" y="5518404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Snollebollekes — Links Rechts (2017)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4F8FD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4F8FD4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457200"/>
            <a:ext cx="1219169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4F8FD4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0" y="27889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4F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3 — FILM &amp; SERIES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Actie, Camera, Bier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2194560" y="4206240"/>
            <a:ext cx="78025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fragmenten en vier vragen zonder beeld. Bij de fragmenten is de titelbalk afgeplakt, dus niet gokken op de bovenkant van het scherm.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90008" y="553212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4F8FD4">
              <a:alpha val="15000"/>
            </a:srgbClr>
          </a:solidFill>
          <a:ln w="9525">
            <a:solidFill>
              <a:srgbClr val="4F8F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90008" y="5532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vragen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4F8FD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4F8FD4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4F8F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3 · ACTIE, CAMERA, BIER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372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 1 — welke film?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10637215" cy="2148840"/>
          </a:xfrm>
          <a:prstGeom prst="roundRect">
            <a:avLst>
              <a:gd name="adj" fmla="val 5106"/>
            </a:avLst>
          </a:prstGeom>
          <a:solidFill>
            <a:srgbClr val="111A16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4F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FILMFRAGMENT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3000" y="3584448"/>
            <a:ext cx="237744" cy="274320"/>
          </a:xfrm>
          <a:prstGeom prst="triangle">
            <a:avLst/>
          </a:prstGeom>
          <a:solidFill>
            <a:srgbClr val="F2C568"/>
          </a:solidFill>
          <a:ln/>
        </p:spPr>
      </p:sp>
      <p:sp>
        <p:nvSpPr>
          <p:cNvPr id="11" name="Text 9"/>
          <p:cNvSpPr/>
          <p:nvPr/>
        </p:nvSpPr>
        <p:spPr>
          <a:xfrm>
            <a:off x="1490472" y="3474720"/>
            <a:ext cx="9539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F2C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Zoek fragment op YouTube  (25 s)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 geen link ingevuld — vul “url” in de config van het HTML-deck, of speel het van je telefoon.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48056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op: kijk niet mee naar het YouTube-tabblad, daar staat de titel.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Gladiator (2000)  —  Suggestie: de arena-scène. Vervang gerust door je eigen favoriet.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4F8FD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4F8FD4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4F8F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3 · ACTIE, CAMERA, BIER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4F8FD4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Quote: “You either die a hero, or you live long enough to see yourself become the villain.” Uit welke film — en wie zegt het?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The Dark Knight (2008) — Harvey Dent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4F8FD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4F8FD4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4F8F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3 · ACTIE, CAMERA, BIER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372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 2 — welke film?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10637215" cy="2148840"/>
          </a:xfrm>
          <a:prstGeom prst="roundRect">
            <a:avLst>
              <a:gd name="adj" fmla="val 5106"/>
            </a:avLst>
          </a:prstGeom>
          <a:solidFill>
            <a:srgbClr val="111A16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4F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FILMFRAGMENT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3000" y="3584448"/>
            <a:ext cx="237744" cy="274320"/>
          </a:xfrm>
          <a:prstGeom prst="triangle">
            <a:avLst/>
          </a:prstGeom>
          <a:solidFill>
            <a:srgbClr val="F2C568"/>
          </a:solidFill>
          <a:ln/>
        </p:spPr>
      </p:sp>
      <p:sp>
        <p:nvSpPr>
          <p:cNvPr id="11" name="Text 9"/>
          <p:cNvSpPr/>
          <p:nvPr/>
        </p:nvSpPr>
        <p:spPr>
          <a:xfrm>
            <a:off x="1490472" y="3474720"/>
            <a:ext cx="9539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F2C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Zoek fragment op YouTube  (25 s)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 geen link ingevuld — vul “url” in de config van het HTML-deck, of speel het van je telefoon.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48056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op: kijk niet mee naar het YouTube-tabblad, daar staat de titel.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Pulp Fiction (1994)  —  Suggestie: de dansscène of de Royale-with-cheese-dialoog.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4F8FD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4F8FD4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4F8F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3 · ACTIE, CAMERA, BIER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4F8FD4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Welke HBO-serie uit 2001 volgt Easy Company van Normandië tot Bastogne, hier vlak om de hoek?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Band of Brothers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4F8FD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4F8FD4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4F8F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3 · ACTIE, CAMERA, BIER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372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 3 — welke film?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10637215" cy="2148840"/>
          </a:xfrm>
          <a:prstGeom prst="roundRect">
            <a:avLst>
              <a:gd name="adj" fmla="val 5106"/>
            </a:avLst>
          </a:prstGeom>
          <a:solidFill>
            <a:srgbClr val="111A16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4F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FILMFRAGMENT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3000" y="3584448"/>
            <a:ext cx="237744" cy="274320"/>
          </a:xfrm>
          <a:prstGeom prst="triangle">
            <a:avLst/>
          </a:prstGeom>
          <a:solidFill>
            <a:srgbClr val="F2C568"/>
          </a:solidFill>
          <a:ln/>
        </p:spPr>
      </p:sp>
      <p:sp>
        <p:nvSpPr>
          <p:cNvPr id="11" name="Text 9"/>
          <p:cNvSpPr/>
          <p:nvPr/>
        </p:nvSpPr>
        <p:spPr>
          <a:xfrm>
            <a:off x="1490472" y="3474720"/>
            <a:ext cx="9539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F2C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Zoek fragment op YouTube  (25 s)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 geen link ingevuld — vul “url” in de config van het HTML-deck, of speel het van je telefoon.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48056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op: kijk niet mee naar het YouTube-tabblad, daar staat de titel.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New Kids Turbo (2010)  —  Suggestie: de trailer. Maaskantje, Brabant — maar Twente lacht ook.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4F8FD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4F8FD4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4F8F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3 · ACTIE, CAMERA, BIER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4F8FD4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Hoeveel Oscars won Titanic (1997)?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77111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Evenaart Ben-Hur en The Return of the King.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11  —  Evenaart Ben-Hur en The Return of the King.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4F8FD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4F8FD4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4F8F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3 · ACTIE, CAMERA, BIER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372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 4 — welke film?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10637215" cy="2148840"/>
          </a:xfrm>
          <a:prstGeom prst="roundRect">
            <a:avLst>
              <a:gd name="adj" fmla="val 5106"/>
            </a:avLst>
          </a:prstGeom>
          <a:solidFill>
            <a:srgbClr val="111A16"/>
          </a:solidFill>
          <a:ln w="12700">
            <a:solidFill>
              <a:srgbClr val="4F8F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4F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FILMFRAGMENT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3000" y="3584448"/>
            <a:ext cx="237744" cy="274320"/>
          </a:xfrm>
          <a:prstGeom prst="triangle">
            <a:avLst/>
          </a:prstGeom>
          <a:solidFill>
            <a:srgbClr val="F2C568"/>
          </a:solidFill>
          <a:ln/>
        </p:spPr>
      </p:sp>
      <p:sp>
        <p:nvSpPr>
          <p:cNvPr id="11" name="Text 9"/>
          <p:cNvSpPr/>
          <p:nvPr/>
        </p:nvSpPr>
        <p:spPr>
          <a:xfrm>
            <a:off x="1490472" y="3474720"/>
            <a:ext cx="9539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F2C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Zoek fragment op YouTube  (25 s)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 geen link ingevuld — vul “url” in de config van het HTML-deck, of speel het van je telefoon.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48056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op: kijk niet mee naar het YouTube-tabblad, daar staat de titel.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The Lord of the Rings: The Fellowship of the Ring (2001)  —  Suggestie: Moria of de Balrog-scène.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4F8FD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4F8FD4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4F8F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3 · ACTIE, CAMERA, BIER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4F8FD4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Welke acteur speelde de hoofdrol in zowel Forrest Gump als Saving Private Ryan?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Tom Hanks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E0A13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E0A13C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457200"/>
            <a:ext cx="1219169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E0A13C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0" y="27889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E0A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4 — STREET VIEW · GEOGUESSR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Waar Staan Wij?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2194560" y="4206240"/>
            <a:ext cx="78025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mag rondkijken en rondlopen met de muis, maar niet uitzoomen naar de kaart. Noem de plaats. Bij twijfel: schrijf je beste gok op, halve punten bestaan hier.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90008" y="553212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E0A13C">
              <a:alpha val="15000"/>
            </a:srgbClr>
          </a:solidFill>
          <a:ln w="9525">
            <a:solidFill>
              <a:srgbClr val="E0A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90008" y="5532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vragen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E0A13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E0A13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E0A13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4 · WAAR STAAN WIJ?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372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Locatie 1 — welke plaats? (thuiswedstrijd)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10637215" cy="2148840"/>
          </a:xfrm>
          <a:prstGeom prst="roundRect">
            <a:avLst>
              <a:gd name="adj" fmla="val 5106"/>
            </a:avLst>
          </a:prstGeom>
          <a:solidFill>
            <a:srgbClr val="111A16"/>
          </a:solidFill>
          <a:ln w="12700">
            <a:solidFill>
              <a:srgbClr val="E0A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0A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3000" y="3584448"/>
            <a:ext cx="237744" cy="274320"/>
          </a:xfrm>
          <a:prstGeom prst="triangle">
            <a:avLst/>
          </a:prstGeom>
          <a:solidFill>
            <a:srgbClr val="F2C568"/>
          </a:solidFill>
          <a:ln/>
        </p:spPr>
      </p:sp>
      <p:sp>
        <p:nvSpPr>
          <p:cNvPr id="11" name="Text 9"/>
          <p:cNvSpPr/>
          <p:nvPr/>
        </p:nvSpPr>
        <p:spPr>
          <a:xfrm>
            <a:off x="1490472" y="3474720"/>
            <a:ext cx="9539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F2C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locatie 1 in Street View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9905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Coördinaten: 52.2661, 6.7931   ·   kijkrichting 180°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38912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het HTML-deck toont Street View direct in de slide — dit is de back-up.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Hengelo (Overijssel) — de Markt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E0A13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E0A13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E0A13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4 · WAAR STAAN WIJ?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372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Locatie 2 — welke plaats? (heel dichtbij)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10637215" cy="2148840"/>
          </a:xfrm>
          <a:prstGeom prst="roundRect">
            <a:avLst>
              <a:gd name="adj" fmla="val 5106"/>
            </a:avLst>
          </a:prstGeom>
          <a:solidFill>
            <a:srgbClr val="111A16"/>
          </a:solidFill>
          <a:ln w="12700">
            <a:solidFill>
              <a:srgbClr val="E0A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0A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3000" y="3584448"/>
            <a:ext cx="237744" cy="274320"/>
          </a:xfrm>
          <a:prstGeom prst="triangle">
            <a:avLst/>
          </a:prstGeom>
          <a:solidFill>
            <a:srgbClr val="F2C568"/>
          </a:solidFill>
          <a:ln/>
        </p:spPr>
      </p:sp>
      <p:sp>
        <p:nvSpPr>
          <p:cNvPr id="11" name="Text 9"/>
          <p:cNvSpPr/>
          <p:nvPr/>
        </p:nvSpPr>
        <p:spPr>
          <a:xfrm>
            <a:off x="1490472" y="3474720"/>
            <a:ext cx="9539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F2C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locatie 2 in Street View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9905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Coördinaten: 50.3969, 6.2647   ·   kijkrichting 90°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38912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het HTML-deck toont Street View direct in de slide — dit is de back-up.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Büllingen — dorpskern  —  Wij slapen hier. Geen punt als je dit mist.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E0A13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E0A13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E0A13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4 · WAAR STAAN WIJ?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372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Locatie 3 — waar zijn we? Tip: hoger kom je in dit land niet.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10637215" cy="2148840"/>
          </a:xfrm>
          <a:prstGeom prst="roundRect">
            <a:avLst>
              <a:gd name="adj" fmla="val 5106"/>
            </a:avLst>
          </a:prstGeom>
          <a:solidFill>
            <a:srgbClr val="111A16"/>
          </a:solidFill>
          <a:ln w="12700">
            <a:solidFill>
              <a:srgbClr val="E0A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0A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3000" y="3584448"/>
            <a:ext cx="237744" cy="274320"/>
          </a:xfrm>
          <a:prstGeom prst="triangle">
            <a:avLst/>
          </a:prstGeom>
          <a:solidFill>
            <a:srgbClr val="F2C568"/>
          </a:solidFill>
          <a:ln/>
        </p:spPr>
      </p:sp>
      <p:sp>
        <p:nvSpPr>
          <p:cNvPr id="11" name="Text 9"/>
          <p:cNvSpPr/>
          <p:nvPr/>
        </p:nvSpPr>
        <p:spPr>
          <a:xfrm>
            <a:off x="1490472" y="3474720"/>
            <a:ext cx="9539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F2C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locatie 3 in Street View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9905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Coördinaten: 50.5017, 6.0947   ·   kijkrichting 200°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38912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het HTML-deck toont Street View direct in de slide — dit is de back-up.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Signal de Botrange, Hoge Venen (694 m)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E0A13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E0A13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E0A13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4 · WAAR STAAN WIJ?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372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Locatie 4 — welke stad? Er staat een Sherman-tank op het plein.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10637215" cy="2148840"/>
          </a:xfrm>
          <a:prstGeom prst="roundRect">
            <a:avLst>
              <a:gd name="adj" fmla="val 5106"/>
            </a:avLst>
          </a:prstGeom>
          <a:solidFill>
            <a:srgbClr val="111A16"/>
          </a:solidFill>
          <a:ln w="12700">
            <a:solidFill>
              <a:srgbClr val="E0A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0A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3000" y="3584448"/>
            <a:ext cx="237744" cy="274320"/>
          </a:xfrm>
          <a:prstGeom prst="triangle">
            <a:avLst/>
          </a:prstGeom>
          <a:solidFill>
            <a:srgbClr val="F2C568"/>
          </a:solidFill>
          <a:ln/>
        </p:spPr>
      </p:sp>
      <p:sp>
        <p:nvSpPr>
          <p:cNvPr id="11" name="Text 9"/>
          <p:cNvSpPr/>
          <p:nvPr/>
        </p:nvSpPr>
        <p:spPr>
          <a:xfrm>
            <a:off x="1490472" y="3474720"/>
            <a:ext cx="9539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F2C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locatie 4 in Street View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9905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Coördinaten: 50.0004, 5.716   ·   kijkrichting 120°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38912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het HTML-deck toont Street View direct in de slide — dit is de back-up.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Bastogne — Place McAuliffe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E0A13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E0A13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E0A13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4 · WAAR STAAN WIJ?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372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Locatie 5 — welke plek? Je staat op de grens van drie landen.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10637215" cy="2148840"/>
          </a:xfrm>
          <a:prstGeom prst="roundRect">
            <a:avLst>
              <a:gd name="adj" fmla="val 5106"/>
            </a:avLst>
          </a:prstGeom>
          <a:solidFill>
            <a:srgbClr val="111A16"/>
          </a:solidFill>
          <a:ln w="12700">
            <a:solidFill>
              <a:srgbClr val="E0A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0A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3000" y="3584448"/>
            <a:ext cx="237744" cy="274320"/>
          </a:xfrm>
          <a:prstGeom prst="triangle">
            <a:avLst/>
          </a:prstGeom>
          <a:solidFill>
            <a:srgbClr val="F2C568"/>
          </a:solidFill>
          <a:ln/>
        </p:spPr>
      </p:sp>
      <p:sp>
        <p:nvSpPr>
          <p:cNvPr id="11" name="Text 9"/>
          <p:cNvSpPr/>
          <p:nvPr/>
        </p:nvSpPr>
        <p:spPr>
          <a:xfrm>
            <a:off x="1490472" y="3474720"/>
            <a:ext cx="9539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F2C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locatie 5 in Street View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9905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Coördinaten: 50.7543, 6.0209   ·   kijkrichting 250°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38912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het HTML-deck toont Street View direct in de slide — dit is de back-up.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Drielandenpunt, Vaals (Vaalserberg)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E0A13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E0A13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E0A13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4 · WAAR STAAN WIJ?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372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Locatie 6 — welke stad aan de Maas?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10637215" cy="2148840"/>
          </a:xfrm>
          <a:prstGeom prst="roundRect">
            <a:avLst>
              <a:gd name="adj" fmla="val 5106"/>
            </a:avLst>
          </a:prstGeom>
          <a:solidFill>
            <a:srgbClr val="111A16"/>
          </a:solidFill>
          <a:ln w="12700">
            <a:solidFill>
              <a:srgbClr val="E0A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0A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3000" y="3584448"/>
            <a:ext cx="237744" cy="274320"/>
          </a:xfrm>
          <a:prstGeom prst="triangle">
            <a:avLst/>
          </a:prstGeom>
          <a:solidFill>
            <a:srgbClr val="F2C568"/>
          </a:solidFill>
          <a:ln/>
        </p:spPr>
      </p:sp>
      <p:sp>
        <p:nvSpPr>
          <p:cNvPr id="11" name="Text 9"/>
          <p:cNvSpPr/>
          <p:nvPr/>
        </p:nvSpPr>
        <p:spPr>
          <a:xfrm>
            <a:off x="1490472" y="3474720"/>
            <a:ext cx="9539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F2C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locatie 6 in Street View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9905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Coördinaten: 50.26, 4.913   ·   kijkrichting 20°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38912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het HTML-deck toont Street View direct in de slide — dit is de back-up.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Dinant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E0A13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E0A13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E0A13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4 · WAAR STAAN WIJ?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372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Locatie 7 — welk Ardens dorp met kasteelruïne op de rots?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10637215" cy="2148840"/>
          </a:xfrm>
          <a:prstGeom prst="roundRect">
            <a:avLst>
              <a:gd name="adj" fmla="val 5106"/>
            </a:avLst>
          </a:prstGeom>
          <a:solidFill>
            <a:srgbClr val="111A16"/>
          </a:solidFill>
          <a:ln w="12700">
            <a:solidFill>
              <a:srgbClr val="E0A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0A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3000" y="3584448"/>
            <a:ext cx="237744" cy="274320"/>
          </a:xfrm>
          <a:prstGeom prst="triangle">
            <a:avLst/>
          </a:prstGeom>
          <a:solidFill>
            <a:srgbClr val="F2C568"/>
          </a:solidFill>
          <a:ln/>
        </p:spPr>
      </p:sp>
      <p:sp>
        <p:nvSpPr>
          <p:cNvPr id="11" name="Text 9"/>
          <p:cNvSpPr/>
          <p:nvPr/>
        </p:nvSpPr>
        <p:spPr>
          <a:xfrm>
            <a:off x="1490472" y="3474720"/>
            <a:ext cx="9539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F2C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locatie 7 in Street View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9905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Coördinaten: 50.1817, 5.5758   ·   kijkrichting 300°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38912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het HTML-deck toont Street View direct in de slide — dit is de back-up.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La Roche-en-Ardenne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E0A13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E0A13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E0A13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4 · WAAR STAAN WIJ?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372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Locatie 8 — welke plaats, én in welk land? (moeilijk)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10637215" cy="2148840"/>
          </a:xfrm>
          <a:prstGeom prst="roundRect">
            <a:avLst>
              <a:gd name="adj" fmla="val 5106"/>
            </a:avLst>
          </a:prstGeom>
          <a:solidFill>
            <a:srgbClr val="111A16"/>
          </a:solidFill>
          <a:ln w="12700">
            <a:solidFill>
              <a:srgbClr val="E0A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0A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1143000" y="3584448"/>
            <a:ext cx="237744" cy="274320"/>
          </a:xfrm>
          <a:prstGeom prst="triangle">
            <a:avLst/>
          </a:prstGeom>
          <a:solidFill>
            <a:srgbClr val="F2C568"/>
          </a:solidFill>
          <a:ln/>
        </p:spPr>
      </p:sp>
      <p:sp>
        <p:nvSpPr>
          <p:cNvPr id="11" name="Text 9"/>
          <p:cNvSpPr/>
          <p:nvPr/>
        </p:nvSpPr>
        <p:spPr>
          <a:xfrm>
            <a:off x="1490472" y="3474720"/>
            <a:ext cx="9539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F2C5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locatie 8 in Street View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9905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Coördinaten: 49.9347, 6.2069   ·   kijkrichting 40°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38912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het HTML-deck toont Street View direct in de slide — dit is de back-up.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Vianden — Luxemburg  —  1 punt voor het land, 2 punten voor de plaatsnaam.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D9A441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D9A44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920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PAUZE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228600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Bladen wisselen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2377440" y="3657600"/>
            <a:ext cx="74368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Geef je antwoordblad van ronde 3 en 4 door aan de tafel links van je.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op tafel. Bier bijvullen.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D9A441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D9A44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NAKIJKSHEET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74980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Ronde 3 &amp; 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518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Ronde 3 — Actie, Camera, Bier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1938528"/>
            <a:ext cx="5181448" cy="0"/>
          </a:xfrm>
          <a:prstGeom prst="line">
            <a:avLst/>
          </a:prstGeom>
          <a:noFill/>
          <a:ln w="9525">
            <a:solidFill>
              <a:srgbClr val="D9A441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4825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9848" y="2029968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Gladiator (2000)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Suggestie: de arena-scène. Vervang gerust door je eigen favoriet.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54660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" y="2528316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Dark Knight (2008) — Harvey Dent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0449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" y="3026664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Fiction (1994)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Suggestie: de dansscène of de Royale-with-cheese-dialoog.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5433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9848" y="3525012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of Brothers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04164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69848" y="4023360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Kids Turbo (2010)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Suggestie: de trailer. Maaskantje, Brabant — maar Twente lacht ook.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53999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9848" y="4521708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Evenaart Ben-Hur en The Return of the King.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503834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9848" y="5020056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Lord of the Rings: The Fellowship of the Ring (2001)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Suggestie: Moria of de Balrog-scène.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55366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69848" y="5518404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Hanks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33008" y="1554480"/>
            <a:ext cx="518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Ronde 4 — Waar Staan Wij?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33008" y="1938528"/>
            <a:ext cx="5181448" cy="0"/>
          </a:xfrm>
          <a:prstGeom prst="line">
            <a:avLst/>
          </a:prstGeom>
          <a:noFill/>
          <a:ln w="9525">
            <a:solidFill>
              <a:srgbClr val="D9A441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3008" y="204825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A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25616" y="2029968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Hengelo (Overijssel) — de Markt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3008" y="254660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A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25616" y="2528316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Büllingen — dorpskern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 slapen hier. Geen punt als je dit mist.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33008" y="30449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A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25616" y="3026664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 Botrange, Hoge Venen (694 m)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33008" y="35433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A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25616" y="3525012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Bastogne — Place McAuliffe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33008" y="404164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A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25616" y="4023360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Drielandenpunt, Vaals (Vaalserberg)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33008" y="453999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A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25616" y="4521708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33008" y="503834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A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25616" y="5020056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Roche-en-Ardenne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33008" y="55366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A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25616" y="5518404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Vianden — Luxemburg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punt voor het land, 2 punten voor de plaatsnaam.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F5A4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F5A4A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457200"/>
            <a:ext cx="1219169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CF5A4A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0" y="27889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CF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5 — TWENTE &amp; HENGELO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 Is 't?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2194560" y="4206240"/>
            <a:ext cx="78025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Thuisronde. Als je hier onder de vijf blijft, mag je niet terug over de grens.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90008" y="553212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CF5A4A">
              <a:alpha val="15000"/>
            </a:srgbClr>
          </a:solidFill>
          <a:ln w="9525">
            <a:solidFill>
              <a:srgbClr val="CF5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90008" y="5532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vragen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F5A4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F5A4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CF5A4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5 · HOO IS 'T?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CF5A4A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welk jaar werd FC Twente landskampioen?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2010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F5A4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F5A4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CF5A4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5 · HOO IS 'T?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CF5A4A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Onder welke Engelse trainer gebeurde dat?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Steve McClaren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F5A4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F5A4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CF5A4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5 · HOO IS 'T?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CF5A4A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Naar wie is het atletiekstadion in Hengelo vernoemd?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Fanny Blankers-Koen (het FBK Stadion)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F5A4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F5A4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CF5A4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5 · HOO IS 'T?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CF5A4A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Welke Hengelose industrieel liet Tuindorp ’t Lansink bouwen voor zijn werknemers?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C.T. Stork (Charles Theodorus Stork)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F5A4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F5A4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CF5A4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5 · HOO IS 'T?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CF5A4A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welk oud Hengeloos fabriekscomplex zit sinds 2021 het Oyfo Techniekmuseum?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Het Hazemeyer-complex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F5A4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F5A4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CF5A4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5 · HOO IS 'T?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CF5A4A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Welke Twentse stad heeft de bijnaam ‘Boeskoolstad’?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77111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Boeskool = witte kool.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Oldenzaal  —  Boeskool = witte kool.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F5A4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F5A4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CF5A4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5 · HOO IS 'T?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CF5A4A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Naar welke plaats is het biermerk Grolsch genoemd?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Groenlo (‘Grol’)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F5A4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F5A4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CF5A4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5 · HOO IS 'T?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CF5A4A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Hengelo is de laatste Nederlandse stop van welke internationale trein richting Duitsland?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77111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Daarna Bad Bentheim.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De Intercity Berlijn (Amsterdam – Berlijn)  —  Daarna Bad Bentheim.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78A2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78A2E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457200"/>
            <a:ext cx="1219169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C78A2E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0" y="27889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C7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6 — DE VLOEIBARE RONDE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Bier, België &amp; Bourgondisch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2194560" y="4206240"/>
            <a:ext cx="78025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zitten in het beste bierland ter wereld. Bewijs dat je dat verdient.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90008" y="553212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C78A2E">
              <a:alpha val="15000"/>
            </a:srgbClr>
          </a:solidFill>
          <a:ln w="9525">
            <a:solidFill>
              <a:srgbClr val="C78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90008" y="5532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vragen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78A2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78A2E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C78A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6 · BIER, BELGIË &amp; BOURGONDISCH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C78A2E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Hoeveel erkende Trappistenbrouwerijen heeft België op dit moment?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77111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Chimay, Orval, Rochefort, Westmalle, Westvleteren.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5  —  Chimay, Orval, Rochefort, Westmalle, Westvleteren.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78A2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78A2E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C78A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6 · BIER, BELGIË &amp; BOURGONDISCH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C78A2E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Welke abdij verloor in 2023 haar Trappistenlabel?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77111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Laatste monnik weg, abdij verkocht — sindsdien ‘abdijbier’.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Achel  —  Laatste monnik weg, abdij verkocht — sindsdien ‘abdijbier’.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78A2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78A2E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C78A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6 · BIER, BELGIË &amp; BOURGONDISCH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C78A2E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Bij welk Trappistenbier hoort de legende van een gouden ring en een forel?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77111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Gravin Mathilde verloor haar ring in een bron; een forel bracht hem terug.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Orval  —  Gravin Mathilde verloor haar ring in een bron; een forel bracht hem terug.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78A2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78A2E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C78A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6 · BIER, BELGIË &amp; BOURGONDISCH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C78A2E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Welk Belgisch bier drink je uit een glas zonder voet, dat in een houten houder moet staan?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Kwak (Pauwel Kwak)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78A2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78A2E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C78A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6 · BIER, BELGIË &amp; BOURGONDISCH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C78A2E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is het alcoholpercentage van Westvleteren 12?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77111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van 0,5 % toegestaan.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10,2 %  —  Marge van 0,5 % toegestaan.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78A2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78A2E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C78A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6 · BIER, BELGIË &amp; BOURGONDISCH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C78A2E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Welke Belgische biersoort gist spontaan met wilde gisten uit de lucht in de Zennevallei?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Lambiek (en daaruit geuze)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78A2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78A2E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C78A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6 · BIER, BELGIË &amp; BOURGONDISCH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C78A2E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betekent de biernaam ‘Duvel’?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Duivel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C78A2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C78A2E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C78A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6 · BIER, BELGIË &amp; BOURGONDISCH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C78A2E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werd in 2016 door UNESCO erkend als immaterieel werelderfgoed van België?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De Belgische biercultuur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D9A441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D9A44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920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PAUZE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228600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Bladen wisselen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2377440" y="3657600"/>
            <a:ext cx="74368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Geef je antwoordblad van ronde 5 en 6 door aan de tafel links van je.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op tafel. Bier bijvullen.</a:t>
            </a:r>
            <a:endParaRPr lang="en-US" sz="17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D9A441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D9A44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NAKIJKSHEET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74980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Ronde 5 &amp; 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518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Ronde 5 — Hoo Is 't?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1938528"/>
            <a:ext cx="5181448" cy="0"/>
          </a:xfrm>
          <a:prstGeom prst="line">
            <a:avLst/>
          </a:prstGeom>
          <a:noFill/>
          <a:ln w="9525">
            <a:solidFill>
              <a:srgbClr val="D9A441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4825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F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9848" y="2029968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54660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F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" y="2528316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McClaren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0449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F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" y="3026664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Fanny Blankers-Koen (het FBK Stadion)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5433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F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9848" y="3525012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C.T. Stork (Charles Theodorus Stork)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04164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F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69848" y="4023360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Hazemeyer-complex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53999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F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9848" y="4521708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Oldenzaal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Boeskool = witte kool.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503834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F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9848" y="5020056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Groenlo (‘Grol’)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55366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F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69848" y="5518404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Intercity Berlijn (Amsterdam – Berlijn)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Daarna Bad Bentheim.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33008" y="1554480"/>
            <a:ext cx="518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Ronde 6 — Bier, België &amp; Bourgondisch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33008" y="1938528"/>
            <a:ext cx="5181448" cy="0"/>
          </a:xfrm>
          <a:prstGeom prst="line">
            <a:avLst/>
          </a:prstGeom>
          <a:noFill/>
          <a:ln w="9525">
            <a:solidFill>
              <a:srgbClr val="D9A441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3008" y="204825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25616" y="2029968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Chimay, Orval, Rochefort, Westmalle, Westvleteren.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3008" y="254660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25616" y="2528316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Achel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Laatste monnik weg, abdij verkocht — sindsdien ‘abdijbier’.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33008" y="30449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25616" y="3026664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Orval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Gravin Mathilde verloor haar ring in een bron; een forel bracht hem terug.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33008" y="35433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25616" y="3525012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Kwak (Pauwel Kwak)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33008" y="404164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25616" y="4023360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10,2 %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van 0,5 % toegestaan.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33008" y="453999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25616" y="4521708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Lambiek (en daaruit geuze)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33008" y="503834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25616" y="5020056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Duivel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33008" y="55366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25616" y="5518404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Belgische biercultuur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457200"/>
            <a:ext cx="1219169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8B5CF6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0" y="27889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7 — ALLES BINNEN 30 KILOMETER VAN DEZE STOEL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Onmogelijke Ronde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2194560" y="4206240"/>
            <a:ext cx="78025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antwoord in deze ronde heeft te maken met de grond waarop dit huis staat. Dat maakt het niet makkelijker. Verwacht drie punten en wees blij met twee.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90008" y="553212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90008" y="5532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vragen</a:t>
            </a:r>
            <a:endParaRPr lang="en-US" sz="1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7 · DE ONMOGELIJKE RONDE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8B5CF6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is de Weißerstein bij Mürringen — en hoe hoog is hij?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77111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Slechts 2 meter lager dan Botrange.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Het tweede hoogste punt van België — 692 meter  —  Slechts 2 meter lager dan Botrange.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7 · DE ONMOGELIJKE RONDE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8B5CF6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Welke Belgische generaal-gouverneur liet in 1923 een 6 meter hoge constructie op de Botrange bouwen, zodat België symbolisch de 700 meter haalde?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Herman Baltia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7 · DE ONMOGELIJKE RONDE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8B5CF6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 17 december 1944 tankte een SS-Kampfgruppe in Büllingen bij met buitgemaakte Amerikaanse brandstof. Wie gaf die eenheid zijn naam?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Joachim (Jochen) Peiper — Kampfgruppe Peiper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7 · DE ONMOGELIJKE RONDE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8B5CF6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Welke twee dorpen in de gemeente Büllingen staan in de Amerikaanse militaire geschiedenis bekend als de ‘Twin Villages’?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Krinkelt en Rocherath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7 · DE ONMOGELIJKE RONDE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8B5CF6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Uit hoeveel dorpen en gehuchten bestaat de gemeente Büllingen?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77111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van 3 toegestaan als je genadig bent.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27  —  Marge van 3 toegestaan als je genadig bent.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7 · DE ONMOGELIJKE RONDE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8B5CF6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Welke Nederlandse atlete liep in juni 2021 in Hengelo een wereldrecord op de 10.000 meter — dat twee dagen later in dezelfde stad weer werd verbroken?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Sifan Hassan (29:06.82), verbroken door Letesenbet Gidey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7 · DE ONMOGELIJKE RONDE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8B5CF6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Welk vredesverdrag bracht de Oostkantons, en dus Büllingen, bij België?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Het Verdrag van Versailles (1919)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7 · DE ONMOGELIJKE RONDE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8B5CF6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 heet het grote Belgische militaire oefenterrein in de gemeente Büllingen?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Kamp Elsenborn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E2574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E2574C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457200"/>
            <a:ext cx="1219169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E2574C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0" y="27889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8 — FINALE · INZETRONDE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Alles of Niets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2194560" y="4206240"/>
            <a:ext cx="78025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Laatste ronde, en nu met inzet. Per vraag zet je vooraf 1, 2 of 3 punten in. Goed = erbij. Fout = eraf. Ja, je kunt hierdoor negatief eindigen.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90008" y="553212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E2574C">
              <a:alpha val="15000"/>
            </a:srgbClr>
          </a:solidFill>
          <a:ln w="9525">
            <a:solidFill>
              <a:srgbClr val="E257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90008" y="5532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vragen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E2574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E2574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8 · ALLES OF NIETS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E2574C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Hoeveel inwoners had de gemeente Büllingen op 1 januari 2024?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77111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Dichtstbij wint. Marge 300.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5.544  —  Dichtstbij wint. Marge 300.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E2574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E2574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8 · ALLES OF NIETS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E2574C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Welk percentage van de gemeente Büllingen is bos?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77111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5 %.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46,5 %  —  Marge 5 %.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E2574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E2574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8 · ALLES OF NIETS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E2574C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 groot is België in vierkante kilometers?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77111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1.500.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30.688 km²  —  Marge 1.500.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E2574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E2574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8 · ALLES OF NIETS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E2574C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Hoeveel dagen duurde het Ardennenoffensief (16 december 1944 – 25 januari 1945)?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77111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3.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41 dagen  —  Marge 3.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E2574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E2574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8 · ALLES OF NIETS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E2574C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Hoeveel gouden medailles won Fanny Blankers-Koen op de Spelen van 1948 in Londen?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4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E2574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E2574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8 · ALLES OF NIETS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E2574C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welk jaar werd FC Twente opgericht, uit de fusie van Sportclub Enschede en Enschedese Boys?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1965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E2574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E2574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8 · ALLES OF NIETS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E2574C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Hoeveel inwoners heeft de gemeente Hengelo ongeveer?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77111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5.000.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± 81.000  —  Marge 5.000.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E2574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E2574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566928"/>
            <a:ext cx="713232" cy="713232"/>
          </a:xfrm>
          <a:prstGeom prst="ellipse">
            <a:avLst/>
          </a:prstGeom>
          <a:solidFill>
            <a:srgbClr val="E2574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6692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0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566928"/>
            <a:ext cx="9722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 8 · ALLES OF NIETS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25535" y="118872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E2574C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7711135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Slotvraag: hoeveel kilometer rijden wij dit weekend in totaal — heen én terug?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77111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Dichtstbij pakt de bonus. Bij exact goed: 5 punten.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Antwoord: ± 570 km  —  Dichtstbij pakt de bonus. Bij exact goed: 5 punten.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D9A441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D9A44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9202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PAUZE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228600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Bladen wisselen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2377440" y="3657600"/>
            <a:ext cx="74368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Geef je antwoordblad van ronde 7 en 8 door aan de tafel links van je.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op tafel. Bier bijvullen.</a:t>
            </a:r>
            <a:endParaRPr lang="en-US" sz="17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D9A441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D9A44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NAKIJKSHEET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74980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Ronde 7 &amp; 8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518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Ronde 7 — De Onmogelijke Ronde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1938528"/>
            <a:ext cx="5181448" cy="0"/>
          </a:xfrm>
          <a:prstGeom prst="line">
            <a:avLst/>
          </a:prstGeom>
          <a:noFill/>
          <a:ln w="9525">
            <a:solidFill>
              <a:srgbClr val="D9A441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4825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9848" y="2029968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tweede hoogste punt van België — 692 meter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Slechts 2 meter lager dan Botrange.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54660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" y="2528316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 Baltia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0449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9848" y="3026664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Joachim (Jochen) Peiper — Kampfgruppe Peiper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5433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9848" y="3525012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Krinkelt en Rocherath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04164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69848" y="4023360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van 3 toegestaan als je genadig bent.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53999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9848" y="4521708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Sifan Hassan (29:06.82), verbroken door Letesenbet Gidey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503834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9848" y="5020056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Verdrag van Versailles (1919)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55366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69848" y="5518404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 Elsenborn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33008" y="1554480"/>
            <a:ext cx="518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Ronde 8 — Alles of Niets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33008" y="1938528"/>
            <a:ext cx="5181448" cy="0"/>
          </a:xfrm>
          <a:prstGeom prst="line">
            <a:avLst/>
          </a:prstGeom>
          <a:noFill/>
          <a:ln w="9525">
            <a:solidFill>
              <a:srgbClr val="D9A441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3008" y="204825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25616" y="2029968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5.544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Dichtstbij wint. Marge 300.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3008" y="254660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25616" y="2528316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46,5 %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5 %.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33008" y="30449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25616" y="3026664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30.688 km²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1.500.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33008" y="35433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25616" y="3525012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dagen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3.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33008" y="404164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25616" y="4023360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33008" y="453999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25616" y="4521708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33008" y="503834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25616" y="5020056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81.000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5.000.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33008" y="553669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25616" y="5518404"/>
            <a:ext cx="488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3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570 km</a:t>
            </a:r>
            <a:pPr indent="0" marL="0">
              <a:lnSpc>
                <a:spcPts val="1400"/>
              </a:lnSpc>
              <a:buNone/>
            </a:pP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Dichtstbij pakt de bonus. Bij exact goed: 5 punten.</a:t>
            </a:r>
            <a:endParaRPr lang="en-US" sz="13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D9A441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D9A44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MOMENT VAN DE WAARHEID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Eindstand</a:t>
            </a:r>
            <a:endParaRPr lang="en-US" sz="4400" dirty="0"/>
          </a:p>
        </p:txBody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20240"/>
          <a:ext cx="1063721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7985455"/>
                <a:gridCol w="1828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9D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3EC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9D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3EC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9D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3EC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9D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3EC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9DB3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3EC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760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Maximaal 64 punten plus bonussen. Ronde 8 kan pijn doen.</a:t>
            </a:r>
            <a:endParaRPr lang="en-US" sz="13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926080"/>
            <a:ext cx="7772400" cy="5852160"/>
          </a:xfrm>
          <a:prstGeom prst="ellipse">
            <a:avLst/>
          </a:prstGeom>
          <a:solidFill>
            <a:srgbClr val="D9A441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297680"/>
            <a:ext cx="6766560" cy="5120640"/>
          </a:xfrm>
          <a:prstGeom prst="ellipse">
            <a:avLst/>
          </a:prstGeom>
          <a:solidFill>
            <a:srgbClr val="D9A441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858104" y="1783080"/>
            <a:ext cx="475488" cy="475488"/>
          </a:xfrm>
          <a:prstGeom prst="diamond">
            <a:avLst/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51460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3E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Proost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0" y="402336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verliezers doen de afwas.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winnaars kiezen het bier.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0" y="5212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Freymannshof · Büllingen · Ostbelgien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84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Grote Freymannshof Pubquiz</dc:title>
  <dc:subject>PptxGenJS Presentation</dc:subject>
  <dc:creator>Quizmaster</dc:creator>
  <cp:lastModifiedBy>Quizmaster</cp:lastModifiedBy>
  <cp:revision>1</cp:revision>
  <dcterms:created xsi:type="dcterms:W3CDTF">2026-08-12T15:25:49Z</dcterms:created>
  <dcterms:modified xsi:type="dcterms:W3CDTF">2026-08-12T15:25:49Z</dcterms:modified>
</cp:coreProperties>
</file>